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3" y="101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118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097280"/>
            <a:ext cx="4754880" cy="4754880"/>
          </a:xfrm>
          <a:prstGeom prst="ellipse">
            <a:avLst/>
          </a:prstGeom>
          <a:solidFill>
            <a:srgbClr val="133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DONANIM STAJI  ·  GÖMÜLÜ SİSTEMLER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ESP32: Gömülü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Sistemlere Giriş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61188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 stajı için hazırlanmış pratik bir rehber — GPIO'dan kablosuz iletişime, boot süreçlerinden sensör entegrasyonuna kadar ESP32'nin tüm kritik konuları.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709160"/>
            <a:ext cx="502920" cy="54864"/>
          </a:xfrm>
          <a:prstGeom prst="rect">
            <a:avLst/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Osman Melih Gümüş ·   21.07.2026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35240" y="1188720"/>
            <a:ext cx="402336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9" name="Image 0" descr="/home/claude/esp32v2/assets/hero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2" y="1353312"/>
            <a:ext cx="3694176" cy="36941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İÇİNDEKİLER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325880" y="137160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Tanıtım ve Teknik Özellikler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87752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548640" y="2587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254203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Yapısı, GPIO ve Pinout Detayları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3758184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548640" y="37581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3712464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ile Çoklu Görev Yönetimi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928616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548640" y="49286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4882896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(ADC/DAC) ve Dijital I/O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263640" y="1417320"/>
            <a:ext cx="566928" cy="566928"/>
          </a:xfrm>
          <a:prstGeom prst="ellipse">
            <a:avLst/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263640" y="1417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40880" y="1371600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Haberleşme Protokolleri: UART · I2C · SPI · PWM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63640" y="2587752"/>
            <a:ext cx="566928" cy="566928"/>
          </a:xfrm>
          <a:prstGeom prst="ellipse">
            <a:avLst/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263640" y="2587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40880" y="254203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Kablosuz İletişim: WiFi · Bluetooth · ESP-NOW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263640" y="3758184"/>
            <a:ext cx="566928" cy="566928"/>
          </a:xfrm>
          <a:prstGeom prst="ellipse">
            <a:avLst/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263640" y="375818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3712464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 Hatları, Regülatör, Boot / Reset / Upload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63640" y="4928616"/>
            <a:ext cx="566928" cy="566928"/>
          </a:xfrm>
          <a:prstGeom prst="ellipse">
            <a:avLst/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263640" y="49286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4882896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Sensör Metodolojisi ve Canlı Demo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Gömülü Sistemlere Giriş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 Nedir? Genel Bakış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esp32v2/assets/esp32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039112"/>
            <a:ext cx="3236976" cy="3236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43400" y="1508760"/>
            <a:ext cx="7269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ESP32, Espressif Systems tarafından geliştirilen dual-core, 240 MHz işlemcili, entegre Wi-Fi ve Bluetooth özellikli bir mikrodenetleyicidir. Arduino ve Raspberry Pi arasında kalan güçlü bir seçenek.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43400" y="2606040"/>
            <a:ext cx="2112264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4480560" y="2788920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MHz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480560" y="3355848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işlemci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92824" y="2606040"/>
            <a:ext cx="2112264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6729984" y="2788920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520 KB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729984" y="3355848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Dahili SRAM bellek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842248" y="2606040"/>
            <a:ext cx="2112264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1"/>
          <p:cNvSpPr/>
          <p:nvPr/>
        </p:nvSpPr>
        <p:spPr>
          <a:xfrm>
            <a:off x="8979408" y="2788920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+ BT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8979408" y="3355848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Entegre kablosuz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43400" y="4160520"/>
            <a:ext cx="2112264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/>
          <p:nvPr/>
        </p:nvSpPr>
        <p:spPr>
          <a:xfrm>
            <a:off x="4480560" y="4343400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MB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4480560" y="4910328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Harici Flash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592824" y="4160520"/>
            <a:ext cx="2112264" cy="1417320"/>
          </a:xfrm>
          <a:prstGeom prst="roundRect">
            <a:avLst>
              <a:gd name="adj" fmla="val 5161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Text 17"/>
          <p:cNvSpPr/>
          <p:nvPr/>
        </p:nvSpPr>
        <p:spPr>
          <a:xfrm>
            <a:off x="6729984" y="4343400"/>
            <a:ext cx="18379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729984" y="4910328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lojik seviyesi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Gömülü Sistemlere Giriş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GPIO Pin Yapısı ve Görevleri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ESP32'nin 38 pini farklı işlevlere sahiptir. Her pin birden fazla fonksiyon üstlenebilir — doğru pin seçimi projenin başarısını doğrudan etkiler.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611880" cy="3886200"/>
          </a:xfrm>
          <a:prstGeom prst="roundRect">
            <a:avLst>
              <a:gd name="adj" fmla="val 2025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Amaçlı GPIO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05409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078992" y="2898648"/>
            <a:ext cx="28072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0–19, 21–23, 25–27, 32–39 arası pinler dijital giriş/çıkış olarak kullanılabilir.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01421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1078992" y="3858768"/>
            <a:ext cx="280720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Giriş: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34–39 sadece giriş (output yok).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0" y="1965960"/>
            <a:ext cx="3611880" cy="3886200"/>
          </a:xfrm>
          <a:prstGeom prst="roundRect">
            <a:avLst>
              <a:gd name="adj" fmla="val 2025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4663440" y="2194560"/>
            <a:ext cx="502920" cy="50292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46634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 ve Toprak Pinleri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305409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919472" y="2898648"/>
            <a:ext cx="28072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Sensör beslemesi için.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83133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4919472" y="3675888"/>
            <a:ext cx="28072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USB'den besleniyorsa aktif.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460857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4919472" y="4453128"/>
            <a:ext cx="28072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toprak bağlantısı.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0" y="1965960"/>
            <a:ext cx="3611880" cy="3886200"/>
          </a:xfrm>
          <a:prstGeom prst="roundRect">
            <a:avLst>
              <a:gd name="adj" fmla="val 2025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Shape 22"/>
          <p:cNvSpPr/>
          <p:nvPr/>
        </p:nvSpPr>
        <p:spPr>
          <a:xfrm>
            <a:off x="8503920" y="2194560"/>
            <a:ext cx="502920" cy="50292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85039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 Fonksiyonlu Pinler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503920" y="305409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8759952" y="2898648"/>
            <a:ext cx="28072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0: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modu.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503920" y="383133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8759952" y="3675888"/>
            <a:ext cx="28072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2: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Dahili LED.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503920" y="460857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8759952" y="4453128"/>
            <a:ext cx="28072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15: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sırasında LOW olmalı.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Gömülü Sistemlere Giriş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Anahtar Pinout Detayları — 38 Pin Module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6751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esp32v2/assets/pinout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44435"/>
            <a:ext cx="6345936" cy="367204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68249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7708392" y="1527048"/>
            <a:ext cx="3950208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3.3V, GND ve VIN 5V giriş.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452360" y="2258568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7708392" y="2103120"/>
            <a:ext cx="3950208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Girişleri: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32–39 (ADC1), 0, 2, 4, 12–15, 25–27 (ADC2).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52360" y="2834640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7708392" y="2679192"/>
            <a:ext cx="3950208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Çıkışları: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GPIO25 (DAC1) ve GPIO26 (DAC2).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52360" y="3410712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7708392" y="3255264"/>
            <a:ext cx="3950208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GPIO21, SCL GPIO22.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452360" y="39867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7708392" y="3831336"/>
            <a:ext cx="3950208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SD2 GPIO9, SD3 GPIO10, CMD GPIO11, CLK GPIO6, SD0 GPIO7, SD1 GPIO8.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452360" y="456285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/>
          <p:nvPr/>
        </p:nvSpPr>
        <p:spPr>
          <a:xfrm>
            <a:off x="7708392" y="4407408"/>
            <a:ext cx="3950208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TX0/RX0 GPIO1/GPIO3, TX2/RX2 GPIO17/GPIO16.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452360" y="5138928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7708392" y="4983480"/>
            <a:ext cx="3950208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Pinleri: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T0–T9 → GPIO 4, 0, 2, 15, 13, 12, 14, 27, 33, 32.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Gömülü Sistemlere Giriş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FreeRTOS ile Çoklu Görev Yönetimi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ESP32'nin dual-core mimarisi, birden fazla görevi (task) gerçek zamanlı olarak paralel yürütmek için FreeRTOS işletim çekirdeğini kullanır.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6" name="Image 0" descr="/home/claude/esp32v2/assets/freertos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437" y="1993392"/>
            <a:ext cx="8060646" cy="4105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Gömülü Sistemlere Giriş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FreeRTOS'un Temel Yapı Taşları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00200" y="162763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17627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 işlem (sensör okuma, motor sürüşü, Bluetooth haberleşmesi) kendi içinde sonsuz döngüsü olan bağımsız bir fonksiyon olarak yazılır.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822960" y="338328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327355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82219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FreeRTOS'un beynidir. Hangi görevin ne zaman çalışacağına, ne kadar süre işlemciyi kullanacağına karar verir.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822960" y="4928616"/>
            <a:ext cx="640080" cy="64008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22960" y="492861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0200" y="491947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46811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göreve bir öncelik verilir. Yüksek öncelikli bir görev (örn. acil stop butonu) tetiklendiğinde, düşük öncelikli görev anında durdurulur.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263640" y="146304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6537960" y="1737360"/>
            <a:ext cx="640080" cy="64008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5379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162763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217627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Görevlerin birbiriyle güvenli şekilde veri alışverişi yapmasını sağlayan "mesaj kutuları"dır.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263640" y="3108960"/>
            <a:ext cx="5394960" cy="146304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6537960" y="3383280"/>
            <a:ext cx="640080" cy="640080"/>
          </a:xfrm>
          <a:prstGeom prst="ellipse">
            <a:avLst/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537960" y="3383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327355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 /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3822192"/>
            <a:ext cx="4846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donanım kaynağına (örn. aynı I2C hattı) iki farklı görevin aynı anda erişip çakışmasını önleyen kilit mekanizmalarıdır.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Gömülü Sistemlere Giriş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 ve Dijital I/O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EAF7F4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Özellikler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(Analog-to-Digital Converter)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Kısaca: Gerçek dünyadaki analog bir sinyali (voltajı), ESP32'nin anlayabileceği dijital bir sayıya dönüştürür.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314553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1124712" y="2990088"/>
            <a:ext cx="4590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ADC1:  </a:t>
            </a: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32–39 (WiFi'den bağımsız, tercih edin)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68680" y="360273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1124712" y="3447288"/>
            <a:ext cx="4590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ADC2:  </a:t>
            </a: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0,2,4,12–15 (WiFi aktifken kullanmayın)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68680" y="405993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124712" y="3904488"/>
            <a:ext cx="4590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Çözünürlük:  </a:t>
            </a: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 (0–4095), 3.3V referans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68680" y="4572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(Digital-to-Analog Converter)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48920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Kısaca: ADC'nin tam tersi. Dijital bir sayıyı fiziksel bir analog voltaja dönüştürür. Pinler: GPIO 25 ve 26 — ses, dalga formu üretimi için kullanılır.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68680" y="5623560"/>
            <a:ext cx="4846320" cy="310896"/>
          </a:xfrm>
          <a:prstGeom prst="roundRect">
            <a:avLst>
              <a:gd name="adj" fmla="val 23529"/>
            </a:avLst>
          </a:prstGeom>
          <a:solidFill>
            <a:srgbClr val="FDEDE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68680" y="562356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ADC2 + WiFi çakışması en sık yapılan hata — ADC1 kullanın!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155448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49224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I/O ve Touch Pinler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21945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Giriş / Çıkış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262432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748272" y="2468880"/>
            <a:ext cx="4590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Destek:  </a:t>
            </a: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GPIO dijital okuma/yazma destekler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08152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6748272" y="2926080"/>
            <a:ext cx="459028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Mantık:  </a:t>
            </a: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LOW (0V / 3.3V) mantığıyla çalışır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611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(Dokunmatik) Pinler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4041648"/>
            <a:ext cx="91440" cy="9144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748272" y="3886200"/>
            <a:ext cx="459028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Pinler:  </a:t>
            </a: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0, 2, 4, 12–15, 27, 32–33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4663440"/>
            <a:ext cx="91440" cy="9144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6748272" y="4507992"/>
            <a:ext cx="459028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Mantık:  </a:t>
            </a: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Kapasitif dokunmatik algılama — buton yerine dokunmatik yüzey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5285232"/>
            <a:ext cx="91440" cy="9144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6748272" y="5129784"/>
            <a:ext cx="459028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 </a:t>
            </a: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sensörleri pull-up/pull-down dirençleriyle kullanın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Gömülü Sistemlere Giriş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Haberleşme Protokolleri (1/2): UART · I2C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68680" y="1801368"/>
            <a:ext cx="777240" cy="777240"/>
          </a:xfrm>
          <a:prstGeom prst="ellipse">
            <a:avLst/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68680" y="18013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180136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— Asenkron Seri Haberleşme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(Clock) hattı barındırmayan asenkron bir seri haberleşme birimidir.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66674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15568" y="3538728"/>
            <a:ext cx="4526280" cy="79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 Rate: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cihazın anlaşabilmesi için haberleşme hızının (örn. 115200 / 9600) önceden koda eşit tanımlanması gerekir.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4373880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1115568" y="4245864"/>
            <a:ext cx="4526280" cy="79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Hat: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(Transmit) veri gönderir, RX (Receive) veri alır.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508101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1115568" y="4953000"/>
            <a:ext cx="4526280" cy="79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Çapraz yapılır — Cihaz 1'in TX'i, Cihaz 2'nin RX'ine bağlanır.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6492240" y="1801368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492240" y="18013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52360" y="180136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— Senkron, Adresli Haberleşme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92240" y="27432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2 kablo ile birden fazla entegrenin birbiriyle haberleşmesini sağlayan senkron bir protokoldür.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3666744"/>
            <a:ext cx="91440" cy="9144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739128" y="3538728"/>
            <a:ext cx="4526280" cy="79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Hat: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 (Serial Data) verinin, SCL (Serial Clock) zamanlama sinyalinin aktarıldığı hattır.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92240" y="4373880"/>
            <a:ext cx="91440" cy="9144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739128" y="4245864"/>
            <a:ext cx="4526280" cy="79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Adresleme: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üzerindeki her sensörün/cihazın benzersiz bir adresi vardır (örn. 0x68).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5081016"/>
            <a:ext cx="91440" cy="9144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739128" y="4953000"/>
            <a:ext cx="4526280" cy="79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Mantık: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Master, konuşmak istediği adresi hatta yayınlar; sadece o adresteki cihaz cevap verir → 2 kabloya onlarca sensör bağlanabilir.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Gömülü Sistemlere Giriş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Haberleşme Protokolleri (2/2): SPI · PWM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68680" y="1801368"/>
            <a:ext cx="777240" cy="777240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68680" y="18013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180136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— Yüksek Hızlı, Full-Duplex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Ekran, SD kart, hızlı hafızalar gibi yüksek hızlı veri transferi gerektiren durumlar için tasarlanmış senkron ve full-duplex (aynı anda alma/verme) bir protokoldür.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666744"/>
            <a:ext cx="91440" cy="9144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1115568" y="3538728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MOSI / SDO: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cihazdan yan cihaza veri çıkışı.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4197096"/>
            <a:ext cx="91440" cy="9144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1115568" y="4069080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MISO / SDI: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cihazdan ana cihaza veri girişi.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68680" y="4727448"/>
            <a:ext cx="91440" cy="9144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1115568" y="4599432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SCLK: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sinyali.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5257800"/>
            <a:ext cx="91440" cy="91440"/>
          </a:xfrm>
          <a:prstGeom prst="roundRect">
            <a:avLst>
              <a:gd name="adj" fmla="val 20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1115568" y="5129784"/>
            <a:ext cx="45262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(Chip Select):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cihazla konuşulacağını seçen pin — adresleme yoktur; CS'i LOW yapılan cihazla konuşulur.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50876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6492240" y="1801368"/>
            <a:ext cx="777240" cy="77724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492240" y="180136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52360" y="180136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— Analog Hissi Veren Dijital Sinyal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492240" y="27432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Açılımı: Pulse Width Modulation (Sinyal/Darbe Genişlik Modülasyonu).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3666744"/>
            <a:ext cx="91440" cy="91440"/>
          </a:xfrm>
          <a:prstGeom prst="roundRect">
            <a:avLst>
              <a:gd name="adj" fmla="val 20000"/>
            </a:avLst>
          </a:prstGeom>
          <a:solidFill>
            <a:srgbClr val="D64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6739128" y="3538728"/>
            <a:ext cx="4526280" cy="79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Mantık: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ESP32'nin dijital pinleri sadece iki değer üretebilir: 0V (LOW) veya 3.3V (HIGH) — ara bir değer (örn. 1.65V) üretilemez.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4373880"/>
            <a:ext cx="91440" cy="91440"/>
          </a:xfrm>
          <a:prstGeom prst="roundRect">
            <a:avLst>
              <a:gd name="adj" fmla="val 20000"/>
            </a:avLst>
          </a:prstGeom>
          <a:solidFill>
            <a:srgbClr val="D64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6739128" y="4245864"/>
            <a:ext cx="4526280" cy="79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Pin, gözün/cihazın fark edemeyeceği kadar hızlı (saniyede binlerce kez) açılıp kapatılarak ortalama bir voltaj "taklit edilir".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0" y="5081016"/>
            <a:ext cx="91440" cy="91440"/>
          </a:xfrm>
          <a:prstGeom prst="roundRect">
            <a:avLst>
              <a:gd name="adj" fmla="val 20000"/>
            </a:avLst>
          </a:prstGeom>
          <a:solidFill>
            <a:srgbClr val="D64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739128" y="4953000"/>
            <a:ext cx="4526280" cy="798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Kullanım: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parlaklığı, motor hızı gibi analog hissi gereken kontrollerde kullanılır.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Gömülü Sistemlere Giriş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Kablosuz İletişim: WiFi, Bluetooth &amp; ESP-NOW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esp32v2/assets/espnow_wifi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37603"/>
            <a:ext cx="4242816" cy="406859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94960" y="1554480"/>
            <a:ext cx="621792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Shape 4"/>
          <p:cNvSpPr/>
          <p:nvPr/>
        </p:nvSpPr>
        <p:spPr>
          <a:xfrm>
            <a:off x="5669280" y="1828800"/>
            <a:ext cx="594360" cy="594360"/>
          </a:xfrm>
          <a:prstGeom prst="ellipse">
            <a:avLst/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8" name="Text 5"/>
          <p:cNvSpPr/>
          <p:nvPr/>
        </p:nvSpPr>
        <p:spPr>
          <a:xfrm>
            <a:off x="566928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0" y="17373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(802.11 b/g/n)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0" y="21488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 (istemci) ve AP (erişim noktası) modu. Web sunucusu, MQTT, OTA güncelleme için kullanılır. ADC2 pinlerini bloke eder.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3090672"/>
            <a:ext cx="621792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5669280" y="3364992"/>
            <a:ext cx="594360" cy="59436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5669280" y="33649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0" y="32735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Classic &amp; BLE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0" y="3685032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(düşük enerjili BT) pil dostu. Sensör verisi aktarımı ve mobil uygulama bağlantısı için ideal. Eşzamanlı WiFi + BLE çalışabilir.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94960" y="4626864"/>
            <a:ext cx="621792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Shape 14"/>
          <p:cNvSpPr/>
          <p:nvPr/>
        </p:nvSpPr>
        <p:spPr>
          <a:xfrm>
            <a:off x="5669280" y="4901184"/>
            <a:ext cx="594360" cy="59436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5"/>
          <p:cNvSpPr/>
          <p:nvPr/>
        </p:nvSpPr>
        <p:spPr>
          <a:xfrm>
            <a:off x="5669280" y="490118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4809744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0" y="5221224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Espressif'in özel protokolü. WiFi olmadan cihazlar arası doğrudan iletişim. Düşük gecikme, düşük güç — çoklu düğüm ağları için mükemmel.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Gömülü Sistemlere Giriş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Güç Hatları, Regülatör ve Boot Süreci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749040" cy="44348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esp32v2/assets/board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061972"/>
            <a:ext cx="3419856" cy="34198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1554480"/>
            <a:ext cx="7040880" cy="3703320"/>
          </a:xfrm>
          <a:prstGeom prst="roundRect">
            <a:avLst>
              <a:gd name="adj" fmla="val 1975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4892040" y="17556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 Bilgiler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892040" y="232257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5148072" y="2167128"/>
            <a:ext cx="61904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VIN: 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5–12V giriş, dahili LDO regülatör 3.3V'a çevirir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892040" y="291693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5148072" y="2761488"/>
            <a:ext cx="61904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 pin: 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Regüleli çıkış — maksimum ~500mA çekebilirsiniz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892040" y="351129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5148072" y="3355848"/>
            <a:ext cx="61904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0: 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Boot'ta LOW → Flash modu (yükleme), HIGH → Çalışma modu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892040" y="410565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5148072" y="3950208"/>
            <a:ext cx="61904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/ RST: 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LOW, reset için toprağa çekin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892040" y="470001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/>
          <p:nvPr/>
        </p:nvSpPr>
        <p:spPr>
          <a:xfrm>
            <a:off x="5148072" y="4544568"/>
            <a:ext cx="619048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12:  </a:t>
            </a: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Boot'ta HIGH olmalı — flash voltajı belirler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0" y="5394960"/>
            <a:ext cx="7040880" cy="594360"/>
          </a:xfrm>
          <a:prstGeom prst="roundRect">
            <a:avLst>
              <a:gd name="adj" fmla="val 12308"/>
            </a:avLst>
          </a:prstGeom>
          <a:solidFill>
            <a:srgbClr val="FDEDE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4892040" y="539496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GPIO 6–11 flash çipiyle bağlantılı — kullanmayın!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Gömülü Sistemlere Giriş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Güç Hatları, Regülatör ve Boot Süreci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17373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2A5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3017520" y="17373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Regülatör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(AMS1117 vb.)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→ 3.3V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2194560" cy="914400"/>
          </a:xfrm>
          <a:prstGeom prst="roundRect">
            <a:avLst>
              <a:gd name="adj" fmla="val 8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035040" y="17373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03920" y="173736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503920" y="17373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2194560"/>
            <a:ext cx="274320" cy="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5760720" y="2194560"/>
            <a:ext cx="274320" cy="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8229600" y="2194560"/>
            <a:ext cx="274320" cy="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868680" y="3246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Akım Limiti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68680" y="3611880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Regülatörün verebileceği maksimum akımın üzerine çıkan yükler (servo, motor, çoklu LED şeridi) beslendiğinde voltaj düşer, kart resetlenebilir. Bu tür yükleri harici güç kaynağından besleyin.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06324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DEDEC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492240" y="3246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Brown-out Detector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3611880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vericisi kısa süreli ani akım çeker; güç hattı yeterince stabilize edilmemişse voltaj anlık düşer ve ESP32 kendini resetler ("brown-out" hatası). Çözüm: besleme hattına yeterli değerde decoupling kapasitör eklemek.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57784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DEDE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GPIO 6–11 flash çipiyle bağlantılı — kullanmayın!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Gömülü Sistemlere Giriş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Sensörlerle Çalışma: Pratik Kurallar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7091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pic>
        <p:nvPicPr>
          <p:cNvPr id="5" name="Image 0" descr="/home/claude/esp32v2/assets/sensor_rules_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86873"/>
            <a:ext cx="4379976" cy="35700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0" y="1554480"/>
            <a:ext cx="6126480" cy="2880360"/>
          </a:xfrm>
          <a:prstGeom prst="roundRect">
            <a:avLst>
              <a:gd name="adj" fmla="val 2540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5806440" y="1755648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Bağlantı Prensipleri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06440" y="232257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6062472" y="2167128"/>
            <a:ext cx="527608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Voltaj: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Sensör besleme voltajını kontrol edin (3.3V vs 5V)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06440" y="2807208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8"/>
          <p:cNvSpPr/>
          <p:nvPr/>
        </p:nvSpPr>
        <p:spPr>
          <a:xfrm>
            <a:off x="6062472" y="2651760"/>
            <a:ext cx="527608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Pull-up: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sensörlerde pull-up direnç (4.7kΩ) SDA/SCL'ye ekleyin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806440" y="3291840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0"/>
          <p:cNvSpPr/>
          <p:nvPr/>
        </p:nvSpPr>
        <p:spPr>
          <a:xfrm>
            <a:off x="6062472" y="3136392"/>
            <a:ext cx="527608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sensörlerde ADC1 pinlerini tercih edin (GPIO 32–39)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806440" y="3776472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2"/>
          <p:cNvSpPr/>
          <p:nvPr/>
        </p:nvSpPr>
        <p:spPr>
          <a:xfrm>
            <a:off x="6062472" y="3621024"/>
            <a:ext cx="527608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Kondansatör: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kablolar için decoupling kondansatör (100nF) ekleyin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806440" y="426110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4"/>
          <p:cNvSpPr/>
          <p:nvPr/>
        </p:nvSpPr>
        <p:spPr>
          <a:xfrm>
            <a:off x="6062472" y="4105656"/>
            <a:ext cx="5276088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Datasheet:  </a:t>
            </a: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diyagramlarını mutlaka okuyun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0" y="4617720"/>
            <a:ext cx="612648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6"/>
          <p:cNvSpPr/>
          <p:nvPr/>
        </p:nvSpPr>
        <p:spPr>
          <a:xfrm>
            <a:off x="5806440" y="477316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Sensörler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806440" y="5166360"/>
            <a:ext cx="1874520" cy="685800"/>
          </a:xfrm>
          <a:prstGeom prst="roundRect">
            <a:avLst>
              <a:gd name="adj" fmla="val 933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8"/>
          <p:cNvSpPr/>
          <p:nvPr/>
        </p:nvSpPr>
        <p:spPr>
          <a:xfrm>
            <a:off x="5806440" y="523036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806440" y="55046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(dijital)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818120" y="5166360"/>
            <a:ext cx="1874520" cy="685800"/>
          </a:xfrm>
          <a:prstGeom prst="roundRect">
            <a:avLst>
              <a:gd name="adj" fmla="val 933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4" name="Text 21"/>
          <p:cNvSpPr/>
          <p:nvPr/>
        </p:nvSpPr>
        <p:spPr>
          <a:xfrm>
            <a:off x="7818120" y="523036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818120" y="55046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(GPIO 21/22)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9829800" y="5166360"/>
            <a:ext cx="1874520" cy="685800"/>
          </a:xfrm>
          <a:prstGeom prst="roundRect">
            <a:avLst>
              <a:gd name="adj" fmla="val 9333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4"/>
          <p:cNvSpPr/>
          <p:nvPr/>
        </p:nvSpPr>
        <p:spPr>
          <a:xfrm>
            <a:off x="9829800" y="523036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HCSR04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9829800" y="5504688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(trigger/echo)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Gömülü Sistemlere Giriş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Canlı Demo: MPU6050 → ESP-NOW → LED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ESP32 arasında router'a ihtiyaç duymadan, ESP-NOW ile doğrudan kablosuz haberleşme: hareket verisi bir cihazdan diğerine anlık olarak aktarılır.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892040" cy="2331720"/>
          </a:xfrm>
          <a:prstGeom prst="roundRect">
            <a:avLst>
              <a:gd name="adj" fmla="val 3137"/>
            </a:avLst>
          </a:prstGeom>
          <a:solidFill>
            <a:srgbClr val="EAF7F4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VERİCİ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51760" y="242316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651760" y="242316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(İvme + Jiroskop)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23160" y="2807208"/>
            <a:ext cx="228600" cy="0"/>
          </a:xfrm>
          <a:prstGeom prst="line">
            <a:avLst/>
          </a:prstGeom>
          <a:noFill/>
          <a:ln w="22225">
            <a:solidFill>
              <a:srgbClr val="6B7686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2331720" y="3246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I2C (SDA/SCL)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3840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 A — Hareket verisini okur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2011680"/>
            <a:ext cx="4892040" cy="2331720"/>
          </a:xfrm>
          <a:prstGeom prst="roundRect">
            <a:avLst>
              <a:gd name="adj" fmla="val 3137"/>
            </a:avLst>
          </a:prstGeom>
          <a:solidFill>
            <a:srgbClr val="FFF6E8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7086600" y="2286000"/>
            <a:ext cx="1554480" cy="1051560"/>
          </a:xfrm>
          <a:prstGeom prst="roundRect">
            <a:avLst>
              <a:gd name="adj" fmla="val 6957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7086600" y="228600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98280" y="2468880"/>
            <a:ext cx="777240" cy="777240"/>
          </a:xfrm>
          <a:prstGeom prst="ellipse">
            <a:avLst/>
          </a:prstGeom>
          <a:solidFill>
            <a:srgbClr val="F2A541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909828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41080" y="2807208"/>
            <a:ext cx="457200" cy="0"/>
          </a:xfrm>
          <a:prstGeom prst="line">
            <a:avLst/>
          </a:prstGeom>
          <a:noFill/>
          <a:ln w="22225">
            <a:solidFill>
              <a:srgbClr val="6B7686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8503920" y="3246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(dijital çıkış)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8660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 B — Veri geldiğinde LED yanar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40680" y="3040380"/>
            <a:ext cx="1325880" cy="0"/>
          </a:xfrm>
          <a:prstGeom prst="line">
            <a:avLst/>
          </a:prstGeom>
          <a:noFill/>
          <a:ln w="31750">
            <a:solidFill>
              <a:srgbClr val="D64545"/>
            </a:solidFill>
            <a:prstDash val="solid"/>
            <a:tailEnd type="triangle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5257800" y="25831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(router'sız, düşük gecikme)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868680" y="47731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Çalışma Akışı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68680" y="5276088"/>
            <a:ext cx="91440" cy="91440"/>
          </a:xfrm>
          <a:prstGeom prst="roundRect">
            <a:avLst>
              <a:gd name="adj" fmla="val 20000"/>
            </a:avLst>
          </a:prstGeom>
          <a:solidFill>
            <a:srgbClr val="D64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1124712" y="5120640"/>
            <a:ext cx="45902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MPU6050, I2C üzerinden ivme/jiroskop verisini Cihaz A'ya iletir.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68680" y="5660136"/>
            <a:ext cx="91440" cy="91440"/>
          </a:xfrm>
          <a:prstGeom prst="roundRect">
            <a:avLst>
              <a:gd name="adj" fmla="val 20000"/>
            </a:avLst>
          </a:prstGeom>
          <a:solidFill>
            <a:srgbClr val="D64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8" name="Text 26"/>
          <p:cNvSpPr/>
          <p:nvPr/>
        </p:nvSpPr>
        <p:spPr>
          <a:xfrm>
            <a:off x="1124712" y="5504688"/>
            <a:ext cx="45902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 A, veriyi ESP-NOW paketi olarak Cihaz B'nin MAC adresine gönderir.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68680" y="60441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D64545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1124712" y="5888736"/>
            <a:ext cx="45902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Cihaz B paketi aldığı anda GPIO çıkışını HIGH yaparak LED'i yakar.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72200" y="461772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6492240" y="477316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Gerekli Malzemeler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492240" y="5276088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4" name="Text 32"/>
          <p:cNvSpPr/>
          <p:nvPr/>
        </p:nvSpPr>
        <p:spPr>
          <a:xfrm>
            <a:off x="6748272" y="5120640"/>
            <a:ext cx="45902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Donanım:  </a:t>
            </a: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ESP32 DevKit, 1× MPU6050, 1× LED + direnç, jumper kablolar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92240" y="5660136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6748272" y="5504688"/>
            <a:ext cx="45902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Kütüphane:  </a:t>
            </a: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Wire.h (I2C), esp_now.h, Adafruit MPU6050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92240" y="6044184"/>
            <a:ext cx="91440" cy="91440"/>
          </a:xfrm>
          <a:prstGeom prst="roundRect">
            <a:avLst>
              <a:gd name="adj" fmla="val 20000"/>
            </a:avLst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8" name="Text 36"/>
          <p:cNvSpPr/>
          <p:nvPr/>
        </p:nvSpPr>
        <p:spPr>
          <a:xfrm>
            <a:off x="6748272" y="5888736"/>
            <a:ext cx="45902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 </a:t>
            </a: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Alıcının MAC adresi vericinin peer listesine önceden eklenmelidir.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Gömülü Sistemlere Giriş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9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Özet: ESP32'de Başarılı Olmanın Anahtarları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9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seçimini doğru yap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8986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ADC1 &gt; ADC2, GPIO 6–11 ve flash pinlerinden kaçın, boot pinlerini bil.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2377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Datasheet'i referans 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8986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sensör ve protokol için teknik dokümanı oku — timing, voltaj, pinout.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8366760" y="1828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66760" y="2377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+ ADC çakışmasını unutma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66760" y="28986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aktifken ADC2 kullanma. ADC1 (GPIO 32–39) her zaman güvenli.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50592" y="39776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2679192" y="4114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679192" y="4663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modunu kontrol 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79192" y="51846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0 LOW = yükleme modu, HIGH = çalışma modu. Yanlışsa kod yüklenmez.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45352" y="3977640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F5F7FA"/>
          </a:solidFill>
          <a:ln/>
          <a:effectLst>
            <a:outerShdw blurRad="101600" dist="38100" dir="5400000" algn="bl" rotWithShape="0">
              <a:srgbClr val="1B243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473952" y="41148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9E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473952" y="4663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ESP-NOW'u keşfet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73952" y="5184648"/>
            <a:ext cx="3154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altyapısı olmadan çoklu cihaz haberleşmesi için güçlü ve hafif bir seçenek.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6A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— Gömülü Sistemlere Giriş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3108960" cy="3108960"/>
          </a:xfrm>
          <a:prstGeom prst="ellipse">
            <a:avLst/>
          </a:prstGeom>
          <a:solidFill>
            <a:srgbClr val="13355E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SORULAR?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77240" y="3429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Teşekkürler — ESP32 ile iyi projeler!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3296599"/>
            <a:ext cx="502920" cy="54864"/>
          </a:xfrm>
          <a:prstGeom prst="rect">
            <a:avLst/>
          </a:prstGeom>
          <a:solidFill>
            <a:srgbClr val="1F9E89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77724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Kaynaklar: Espressif ESP32 Datasheet &amp; Technical Reference Manual · espressif.com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1835</Words>
  <Application>Microsoft Office PowerPoint</Application>
  <PresentationFormat>Widescreen</PresentationFormat>
  <Paragraphs>272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Osman Melih Gümü?</cp:lastModifiedBy>
  <cp:revision>4</cp:revision>
  <dcterms:created xsi:type="dcterms:W3CDTF">2026-07-20T20:14:15Z</dcterms:created>
  <dcterms:modified xsi:type="dcterms:W3CDTF">2026-07-21T12:06:03Z</dcterms:modified>
</cp:coreProperties>
</file>